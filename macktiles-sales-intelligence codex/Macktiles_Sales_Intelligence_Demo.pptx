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70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67"/>
    <p:restoredTop sz="94610"/>
  </p:normalViewPr>
  <p:slideViewPr>
    <p:cSldViewPr snapToGrid="0" snapToObjects="1">
      <p:cViewPr varScale="1">
        <p:scale>
          <a:sx n="145" d="100"/>
          <a:sy n="145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935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4" name="Text 1"/>
          <p:cNvSpPr/>
          <p:nvPr/>
        </p:nvSpPr>
        <p:spPr>
          <a:xfrm>
            <a:off x="731520" y="20116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Sales Intelligence</a:t>
            </a:r>
            <a:endParaRPr lang="en-US" sz="4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Platform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31520" y="3566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AI-Powered Market Entry Weapon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 | 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Macktiles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1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Australia |  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100" dirty="0"/>
          </a:p>
        </p:txBody>
      </p:sp>
      <p:pic>
        <p:nvPicPr>
          <p:cNvPr id="9" name="Picture 8" descr="A black and orange logo&#10;&#10;Description automatically generated">
            <a:extLst>
              <a:ext uri="{FF2B5EF4-FFF2-40B4-BE49-F238E27FC236}">
                <a16:creationId xmlns:a16="http://schemas.microsoft.com/office/drawing/2014/main" id="{3DE72A3B-B116-6AC9-0610-72594AAF8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654" y="547276"/>
            <a:ext cx="1602153" cy="12632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Breaking Into Australia's</a:t>
            </a:r>
            <a:endParaRPr lang="en-US" sz="36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$4.2B Tile Market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194560"/>
            <a:ext cx="3657600" cy="1097280"/>
          </a:xfrm>
          <a:prstGeom prst="rect">
            <a:avLst/>
          </a:prstGeom>
          <a:solidFill>
            <a:srgbClr val="FBF7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231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Brand Recognition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1732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established presence in the Australian construction and design market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3520440"/>
            <a:ext cx="3657600" cy="1097280"/>
          </a:xfrm>
          <a:prstGeom prst="rect">
            <a:avLst/>
          </a:prstGeom>
          <a:solidFill>
            <a:srgbClr val="FBF7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7490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Relationships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41732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build connections with builders, architects, and retailers from scratch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2194560"/>
            <a:ext cx="3657600" cy="1097280"/>
          </a:xfrm>
          <a:prstGeom prst="rect">
            <a:avLst/>
          </a:prstGeom>
          <a:solidFill>
            <a:srgbClr val="FBF7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42316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0680" y="2331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Sales Bandwidth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544068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team trying to cover a massive market across all Australian states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3520440"/>
            <a:ext cx="3657600" cy="1097280"/>
          </a:xfrm>
          <a:prstGeom prst="rect">
            <a:avLst/>
          </a:prstGeom>
          <a:solidFill>
            <a:srgbClr val="FBF7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4904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4068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440680" y="3977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Established players with entrenched supplier relationships and brand loyalty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Sales Intelligence</a:t>
            </a:r>
            <a:endParaRPr lang="en-US" sz="3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That Does The Heavy Lifting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1234440" y="2560320"/>
            <a:ext cx="640080" cy="6400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697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Research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researches every prospect deeply in seconds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2560320"/>
            <a:ext cx="640080" cy="6400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697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8892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Outreach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78892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Emails crafted to each prospect's specific needs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349240" y="2560320"/>
            <a:ext cx="640080" cy="6400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26974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4632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Call Scripts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84632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Tailored scripts with objection handling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406640" y="2560320"/>
            <a:ext cx="640080" cy="6400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26974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3720" y="3383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Tracking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903720" y="3749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lose track of a single prospect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D4725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19" y="731520"/>
            <a:ext cx="757721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Four Steps to Market Domination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05840" y="1645920"/>
            <a:ext cx="594360" cy="594360"/>
          </a:xfrm>
          <a:prstGeom prst="ellipse">
            <a:avLst/>
          </a:prstGeom>
          <a:solidFill>
            <a:srgbClr val="D472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46888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Leads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your target list of builders, architects, developers &amp; retailers via CSV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78308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154680" y="1645920"/>
            <a:ext cx="594360" cy="594360"/>
          </a:xfrm>
          <a:prstGeom prst="ellipse">
            <a:avLst/>
          </a:prstGeom>
          <a:solidFill>
            <a:srgbClr val="D4725C"/>
          </a:solidFill>
          <a:ln/>
        </p:spPr>
      </p:sp>
      <p:sp>
        <p:nvSpPr>
          <p:cNvPr id="12" name="Text 8"/>
          <p:cNvSpPr/>
          <p:nvPr/>
        </p:nvSpPr>
        <p:spPr>
          <a:xfrm>
            <a:off x="315468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24688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0604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Research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260604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automatically researches each company, identifies pain points &amp; scores fit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8308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303520" y="1645920"/>
            <a:ext cx="594360" cy="594360"/>
          </a:xfrm>
          <a:prstGeom prst="ellipse">
            <a:avLst/>
          </a:prstGeom>
          <a:solidFill>
            <a:srgbClr val="D4725C"/>
          </a:solidFill>
          <a:ln/>
        </p:spPr>
      </p:sp>
      <p:sp>
        <p:nvSpPr>
          <p:cNvPr id="18" name="Text 12"/>
          <p:cNvSpPr/>
          <p:nvPr/>
        </p:nvSpPr>
        <p:spPr>
          <a:xfrm>
            <a:off x="530352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2468880"/>
            <a:ext cx="502920" cy="5029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75488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Outreach</a:t>
            </a:r>
            <a:endParaRPr lang="en-US" sz="1400" dirty="0"/>
          </a:p>
        </p:txBody>
      </p:sp>
      <p:sp>
        <p:nvSpPr>
          <p:cNvPr id="21" name="Text 14"/>
          <p:cNvSpPr/>
          <p:nvPr/>
        </p:nvSpPr>
        <p:spPr>
          <a:xfrm>
            <a:off x="475488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personalized emails and call scripts tailored to each prospect</a:t>
            </a:r>
            <a:endParaRPr lang="en-US" sz="10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783080"/>
            <a:ext cx="274320" cy="2743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452360" y="1645920"/>
            <a:ext cx="594360" cy="594360"/>
          </a:xfrm>
          <a:prstGeom prst="ellipse">
            <a:avLst/>
          </a:prstGeom>
          <a:solidFill>
            <a:srgbClr val="D4725C"/>
          </a:solidFill>
          <a:ln/>
        </p:spPr>
      </p:sp>
      <p:sp>
        <p:nvSpPr>
          <p:cNvPr id="24" name="Text 16"/>
          <p:cNvSpPr/>
          <p:nvPr/>
        </p:nvSpPr>
        <p:spPr>
          <a:xfrm>
            <a:off x="745236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0" y="2468880"/>
            <a:ext cx="502920" cy="5029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03720" y="310896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&amp; Convert</a:t>
            </a:r>
            <a:endParaRPr lang="en-US" sz="1400" dirty="0"/>
          </a:p>
        </p:txBody>
      </p:sp>
      <p:sp>
        <p:nvSpPr>
          <p:cNvPr id="27" name="Text 18"/>
          <p:cNvSpPr/>
          <p:nvPr/>
        </p:nvSpPr>
        <p:spPr>
          <a:xfrm>
            <a:off x="6903720" y="3474720"/>
            <a:ext cx="1691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pipeline, log calls, track responses, and close deals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RESEARCH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Deep Intelligence on</a:t>
            </a:r>
            <a:endParaRPr lang="en-US" sz="3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Prospect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574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965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Size, revenue, projects, market position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69748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346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Points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371600" y="3017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challenges this prospect faces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31520" y="347472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6118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520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Buying Signals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137160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indicators, new projects, expansions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31520" y="4251960"/>
            <a:ext cx="393192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389120"/>
            <a:ext cx="320040" cy="320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71600" y="4297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Scoring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37160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qualification score with reasoning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120640" y="1920240"/>
            <a:ext cx="3474720" cy="283464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5120640" y="2103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Time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5120640" y="2468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 sec</a:t>
            </a:r>
            <a:endParaRPr lang="en-US" sz="5200" dirty="0"/>
          </a:p>
        </p:txBody>
      </p:sp>
      <p:sp>
        <p:nvSpPr>
          <p:cNvPr id="24" name="Text 18"/>
          <p:cNvSpPr/>
          <p:nvPr/>
        </p:nvSpPr>
        <p:spPr>
          <a:xfrm>
            <a:off x="51206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lead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5120640" y="3840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45 minutes manual research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120640" y="4206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90x faster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COLD EMAIL GENERATION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Emails That Actually</a:t>
            </a:r>
            <a:endParaRPr lang="en-US" sz="3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Responses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72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1920240" cy="457200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intro referencing their projects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1965960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606040" y="18288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5A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06040" y="1828800"/>
            <a:ext cx="1920240" cy="457200"/>
          </a:xfrm>
          <a:prstGeom prst="rect">
            <a:avLst/>
          </a:prstGeom>
          <a:solidFill>
            <a:srgbClr val="B85A47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74320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Value-add with industry insights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9659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54880" y="18288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8B4538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4880" y="1828800"/>
            <a:ext cx="1920240" cy="457200"/>
          </a:xfrm>
          <a:prstGeom prst="rect">
            <a:avLst/>
          </a:prstGeom>
          <a:solidFill>
            <a:srgbClr val="8B4538"/>
          </a:solidFill>
          <a:ln/>
        </p:spPr>
      </p:sp>
      <p:sp>
        <p:nvSpPr>
          <p:cNvPr id="17" name="Text 13"/>
          <p:cNvSpPr/>
          <p:nvPr/>
        </p:nvSpPr>
        <p:spPr>
          <a:xfrm>
            <a:off x="475488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2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89204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or social proof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65960"/>
            <a:ext cx="182880" cy="18288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903720" y="1828800"/>
            <a:ext cx="192024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1A1A1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903720" y="1828800"/>
            <a:ext cx="1920240" cy="4572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2" name="Text 17"/>
          <p:cNvSpPr/>
          <p:nvPr/>
        </p:nvSpPr>
        <p:spPr>
          <a:xfrm>
            <a:off x="690372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Breakup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040880" y="2468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touch creating urgency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731520" y="3931920"/>
            <a:ext cx="7680960" cy="822960"/>
          </a:xfrm>
          <a:prstGeom prst="rect">
            <a:avLst/>
          </a:prstGeom>
          <a:solidFill>
            <a:srgbClr val="F5E6E1"/>
          </a:solidFill>
          <a:ln/>
        </p:spPr>
      </p:sp>
      <p:sp>
        <p:nvSpPr>
          <p:cNvPr id="25" name="Text 20"/>
          <p:cNvSpPr/>
          <p:nvPr/>
        </p:nvSpPr>
        <p:spPr>
          <a:xfrm>
            <a:off x="914400" y="39319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email references the prospect's actual projects, challenges, and industry context. </a:t>
            </a:r>
            <a:r>
              <a:rPr lang="en-US" sz="1200" b="1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generic templates.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SCRIPT INTELLIGENCE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Call Starts With</a:t>
            </a:r>
            <a:endParaRPr lang="en-US" sz="3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 Unfair Advantage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411480" cy="4114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3911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Hooks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Attention-grabbing openers tailored to each prospect's situation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63347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514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Questions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7160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questions that uncover their tile sourcing pain points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731520" y="3154680"/>
            <a:ext cx="411480" cy="4114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227832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Objection Handling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371600" y="3383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Pre-built responses to common push-backs for new suppliers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31520" y="3749040"/>
            <a:ext cx="411480" cy="4114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822192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371600" y="3977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Industry-specific angles on why Macktiles is the right fit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31520" y="4343400"/>
            <a:ext cx="411480" cy="4114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4416552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71600" y="4297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1371600" y="4572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call-to-action and follow-up scheduling guidance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5303520" y="1920240"/>
            <a:ext cx="3383280" cy="2834640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25" name="Text 18"/>
          <p:cNvSpPr/>
          <p:nvPr/>
        </p:nvSpPr>
        <p:spPr>
          <a:xfrm>
            <a:off x="5486400" y="192024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6000" dirty="0"/>
          </a:p>
        </p:txBody>
      </p:sp>
      <p:sp>
        <p:nvSpPr>
          <p:cNvPr id="26" name="Text 19"/>
          <p:cNvSpPr/>
          <p:nvPr/>
        </p:nvSpPr>
        <p:spPr>
          <a:xfrm>
            <a:off x="5577840" y="246888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reps sound like they've known the prospect for years, not like they're reading from a script.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557784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Macktiles Advantage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MANAGEMENT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Never Lose Track of</a:t>
            </a:r>
            <a:endParaRPr lang="en-US" sz="3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Single Prospect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777240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 —  150 leads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2578608"/>
            <a:ext cx="6675120" cy="457200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57860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Researched  —  120 leads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783080" y="3145536"/>
            <a:ext cx="5577840" cy="457200"/>
          </a:xfrm>
          <a:prstGeom prst="rect">
            <a:avLst/>
          </a:prstGeom>
          <a:solidFill>
            <a:srgbClr val="B85A47"/>
          </a:solidFill>
          <a:ln/>
        </p:spPr>
      </p:sp>
      <p:sp>
        <p:nvSpPr>
          <p:cNvPr id="10" name="Text 8"/>
          <p:cNvSpPr/>
          <p:nvPr/>
        </p:nvSpPr>
        <p:spPr>
          <a:xfrm>
            <a:off x="1783080" y="3145536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Sent  —  95 leads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331720" y="3712464"/>
            <a:ext cx="4480560" cy="457200"/>
          </a:xfrm>
          <a:prstGeom prst="rect">
            <a:avLst/>
          </a:prstGeom>
          <a:solidFill>
            <a:srgbClr val="B85A47"/>
          </a:solidFill>
          <a:ln/>
        </p:spPr>
      </p:sp>
      <p:sp>
        <p:nvSpPr>
          <p:cNvPr id="12" name="Text 10"/>
          <p:cNvSpPr/>
          <p:nvPr/>
        </p:nvSpPr>
        <p:spPr>
          <a:xfrm>
            <a:off x="2331720" y="37124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Due  —  60 leads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80360" y="4279392"/>
            <a:ext cx="33832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42793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Qualified  —  35 leads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47365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visibility. Every lead accounted for. Management can track progress in real-time.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PROJECTIONS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 Speak</a:t>
            </a:r>
            <a:endParaRPr lang="en-US" sz="3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 Themselves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28800"/>
            <a:ext cx="1920240" cy="54864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D472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researched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hour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2-3 manually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82880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828800"/>
            <a:ext cx="1920240" cy="54864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D472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274320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response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personalized outreach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82880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828800"/>
            <a:ext cx="1920240" cy="54864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D472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89204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falling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cracks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visibility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03720" y="1828800"/>
            <a:ext cx="19202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03720" y="1828800"/>
            <a:ext cx="1920240" cy="54864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103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D4725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10x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7040880" y="29260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4088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sales rep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ON INVESTMENT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Manual vs. Platform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840480" cy="29260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PLATFORM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~20 personalized emails/day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45 min research per lead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Generic, copy-paste templates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Leads lost in spreadsheets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No follow-up tracking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 Management flying blind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645920"/>
            <a:ext cx="3840480" cy="2926080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PLATFORM</a:t>
            </a:r>
            <a:endParaRPr lang="en-US" sz="12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240280"/>
            <a:ext cx="182880" cy="1828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94960" y="2194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personalized emails/day</a:t>
            </a:r>
            <a:endParaRPr lang="en-US" sz="11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606040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39496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seconds research per lead</a:t>
            </a:r>
            <a:endParaRPr lang="en-US" sz="11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97180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9496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AI-crafted unique emails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337560"/>
            <a:ext cx="182880" cy="1828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0" y="3291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visibility</a:t>
            </a:r>
            <a:endParaRPr lang="en-US" sz="11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3703320"/>
            <a:ext cx="182880" cy="1828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94960" y="3657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follow-up sequences</a:t>
            </a:r>
            <a:endParaRPr lang="en-US" sz="11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4069080"/>
            <a:ext cx="182880" cy="1828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94960" y="4023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dashboards &amp; stats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25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ENTRY ADVANTAGE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Arrive in Australia With</a:t>
            </a:r>
            <a:endParaRPr lang="en-US" sz="32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Intelligence, Not Guesswork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1920240" cy="2377440"/>
          </a:xfrm>
          <a:prstGeom prst="rect">
            <a:avLst/>
          </a:prstGeom>
          <a:solidFill>
            <a:srgbClr val="FBF7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240280"/>
            <a:ext cx="640080" cy="6400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23774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436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their current projects and tile sourcing challenges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06040" y="2011680"/>
            <a:ext cx="1920240" cy="2377440"/>
          </a:xfrm>
          <a:prstGeom prst="rect">
            <a:avLst/>
          </a:prstGeom>
          <a:solidFill>
            <a:srgbClr val="FBF7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46120" y="2240280"/>
            <a:ext cx="640080" cy="6400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2377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4320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74320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their design preferences and supplier frustrations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2011680"/>
            <a:ext cx="1920240" cy="2377440"/>
          </a:xfrm>
          <a:prstGeom prst="rect">
            <a:avLst/>
          </a:prstGeom>
          <a:solidFill>
            <a:srgbClr val="FBF7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394960" y="2240280"/>
            <a:ext cx="640080" cy="6400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3774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89204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Property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89204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their pipeline and volume requirements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03720" y="2011680"/>
            <a:ext cx="1920240" cy="2377440"/>
          </a:xfrm>
          <a:prstGeom prst="rect">
            <a:avLst/>
          </a:prstGeom>
          <a:solidFill>
            <a:srgbClr val="FBF7F6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43800" y="2240280"/>
            <a:ext cx="640080" cy="640080"/>
          </a:xfrm>
          <a:prstGeom prst="ellipse">
            <a:avLst/>
          </a:prstGeom>
          <a:solidFill>
            <a:srgbClr val="D4725C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23774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 Retailers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Distributors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040880" y="35661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their range gaps and margin pressures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7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See It In Action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D4725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a Lead List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938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CSV of target builders and architects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331720"/>
            <a:ext cx="457200" cy="457200"/>
          </a:xfrm>
          <a:prstGeom prst="ellipse">
            <a:avLst/>
          </a:prstGeom>
          <a:solidFill>
            <a:srgbClr val="D4725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Enrichment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the platform research a prospect in real-time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457200" cy="457200"/>
          </a:xfrm>
          <a:prstGeom prst="ellipse">
            <a:avLst/>
          </a:prstGeom>
          <a:solidFill>
            <a:srgbClr val="D4725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Generation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 personalized cold email crafted instantly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11880"/>
            <a:ext cx="457200" cy="457200"/>
          </a:xfrm>
          <a:prstGeom prst="ellipse">
            <a:avLst/>
          </a:prstGeom>
          <a:solidFill>
            <a:srgbClr val="D4725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Script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38587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a tailored call script with objection handling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251960"/>
            <a:ext cx="457200" cy="457200"/>
          </a:xfrm>
          <a:prstGeom prst="ellipse">
            <a:avLst/>
          </a:prstGeom>
          <a:solidFill>
            <a:srgbClr val="D4725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51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71600" y="4206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Tracking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44988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through the full lead management workflow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D4725C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Launch Your</a:t>
            </a:r>
            <a:endParaRPr lang="en-US" sz="36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Australian Market Assault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383280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37744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your first 500 target leads today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794760"/>
            <a:ext cx="228600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237744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AI enrichment on top 50 prospects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4206240"/>
            <a:ext cx="22860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377440" y="4160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your first personalized email campaign this week</a:t>
            </a:r>
            <a:endParaRPr lang="en-US" sz="1400" dirty="0"/>
          </a:p>
        </p:txBody>
      </p:sp>
      <p:sp>
        <p:nvSpPr>
          <p:cNvPr id="10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E0705A"/>
          </a:solidFill>
          <a:ln/>
        </p:spPr>
        <p:txBody>
          <a:bodyPr/>
          <a:lstStyle/>
          <a:p>
            <a:endParaRPr lang="en-LK" dirty="0"/>
          </a:p>
        </p:txBody>
      </p:sp>
      <p:pic>
        <p:nvPicPr>
          <p:cNvPr id="12" name="Picture 11" descr="A black and orange logo&#10;&#10;Description automatically generated">
            <a:extLst>
              <a:ext uri="{FF2B5EF4-FFF2-40B4-BE49-F238E27FC236}">
                <a16:creationId xmlns:a16="http://schemas.microsoft.com/office/drawing/2014/main" id="{C831202B-E830-DD2A-60C9-01E399EDEA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7723" y="465662"/>
            <a:ext cx="1602153" cy="12632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682</Words>
  <Application>Microsoft Macintosh PowerPoint</Application>
  <PresentationFormat>On-screen Show (16:9)</PresentationFormat>
  <Paragraphs>178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Macktiles Australia - Sales Intelligence Platform</dc:title>
  <dc:subject>PptxGenJS Presentation</dc:subject>
  <dc:creator>Macktiles Australia</dc:creator>
  <cp:lastModifiedBy>Shiham Samsudeen</cp:lastModifiedBy>
  <cp:revision>4</cp:revision>
  <dcterms:created xsi:type="dcterms:W3CDTF">2026-03-19T05:18:03Z</dcterms:created>
  <dcterms:modified xsi:type="dcterms:W3CDTF">2026-03-19T05:28:59Z</dcterms:modified>
</cp:coreProperties>
</file>